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1" d="100"/>
          <a:sy n="71" d="100"/>
        </p:scale>
        <p:origin x="612" y="7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11/29/2025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11/29/2025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>
            <a:noAutofit/>
          </a:bodyPr>
          <a:lstStyle/>
          <a:p>
            <a:pPr algn="r"/>
            <a:r>
              <a:rPr lang="en-US" sz="2400" b="0" dirty="0">
                <a:solidFill>
                  <a:schemeClr val="tx1"/>
                </a:solidFill>
              </a:rPr>
              <a:t>Rehaan Ali Mohammed</a:t>
            </a:r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90297"/>
            <a:ext cx="8798803" cy="965201"/>
          </a:xfrm>
        </p:spPr>
        <p:txBody>
          <a:bodyPr>
            <a:noAutofit/>
          </a:bodyPr>
          <a:lstStyle/>
          <a:p>
            <a:r>
              <a:rPr lang="en-GB" sz="4400" dirty="0">
                <a:latin typeface="Bahnschrift SemiBold SemiConden" panose="020B0502040204020203" pitchFamily="34" charset="0"/>
              </a:rPr>
              <a:t>Telecom Customer Retention</a:t>
            </a:r>
            <a:endParaRPr lang="en-IN" sz="4400" dirty="0">
              <a:latin typeface="Bahnschrift SemiBold SemiConden" panose="020B0502040204020203" pitchFamily="34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4810" y="1682516"/>
            <a:ext cx="6995604" cy="47894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Californian FB" panose="0207040306080B030204" pitchFamily="18" charset="0"/>
              </a:rPr>
              <a:t>Telecom companies experience customer churn when users discontinue service due to poor network performance, billing issues, or dissatisfaction. The goal of this project is to build a machine learning model that predicts which customers are likely to churn so the company can take proactive actions to retain them.</a:t>
            </a:r>
            <a:endParaRPr lang="en-IN" sz="1900" dirty="0">
              <a:latin typeface="Californian FB" panose="0207040306080B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latin typeface="Californian FB" panose="0207040306080B030204" pitchFamily="18" charset="0"/>
              </a:rPr>
              <a:t>Early Identification and mitigation of risks in Telecommunication to ensure a seamless product experience for customers by preventing service interruptions. By predicting potential issues, downtimes and disruptions can be minimized, leading to more reliable network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72324F-5F56-70C5-0A9A-6D1C383F4699}"/>
              </a:ext>
            </a:extLst>
          </p:cNvPr>
          <p:cNvSpPr txBox="1"/>
          <p:nvPr/>
        </p:nvSpPr>
        <p:spPr>
          <a:xfrm>
            <a:off x="295836" y="2269582"/>
            <a:ext cx="915744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goal is to build a machine learning–based predictive system that: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Identifies potential risks or service issues before customers experience them.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Reduces downtime and service disruptions to maintain network reliability.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Enhances customer experience through proactive risk management.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Analyzes large volumes of network and customer usage data to predict churn likelihood and trigger retention strategies.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5BDD40-9AA8-6E86-CD74-962897374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834630"/>
              </p:ext>
            </p:extLst>
          </p:nvPr>
        </p:nvGraphicFramePr>
        <p:xfrm>
          <a:off x="620008" y="1885181"/>
          <a:ext cx="7904480" cy="4085700"/>
        </p:xfrm>
        <a:graphic>
          <a:graphicData uri="http://schemas.openxmlformats.org/drawingml/2006/table">
            <a:tbl>
              <a:tblPr/>
              <a:tblGrid>
                <a:gridCol w="3952240">
                  <a:extLst>
                    <a:ext uri="{9D8B030D-6E8A-4147-A177-3AD203B41FA5}">
                      <a16:colId xmlns:a16="http://schemas.microsoft.com/office/drawing/2014/main" val="3767706262"/>
                    </a:ext>
                  </a:extLst>
                </a:gridCol>
                <a:gridCol w="3952240">
                  <a:extLst>
                    <a:ext uri="{9D8B030D-6E8A-4147-A177-3AD203B41FA5}">
                      <a16:colId xmlns:a16="http://schemas.microsoft.com/office/drawing/2014/main" val="4166690892"/>
                    </a:ext>
                  </a:extLst>
                </a:gridCol>
              </a:tblGrid>
              <a:tr h="313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End User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Role / Benefit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194318"/>
                  </a:ext>
                </a:extLst>
              </a:tr>
              <a:tr h="786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Telecom Network Operations Team</a:t>
                      </a:r>
                      <a:endParaRPr lang="en-IN" sz="1500" dirty="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Uses predictions to detect weak network areas and reduce future outages.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318091"/>
                  </a:ext>
                </a:extLst>
              </a:tr>
              <a:tr h="7862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Customer Experience / Support Team</a:t>
                      </a:r>
                      <a:endParaRPr lang="en-IN" sz="150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Gets alerts about at-risk customers and can offer promotions or resolve complaints proactively.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341978"/>
                  </a:ext>
                </a:extLst>
              </a:tr>
              <a:tr h="549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Business / Marketing Teams</a:t>
                      </a:r>
                      <a:endParaRPr lang="en-IN" sz="150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Creates targeted retention campaigns based on churn probability.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839559"/>
                  </a:ext>
                </a:extLst>
              </a:tr>
              <a:tr h="549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Data Analysts / ML Engineers</a:t>
                      </a:r>
                      <a:endParaRPr lang="en-IN" sz="150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Monitor model accuracy and improve prediction pipeline.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244364"/>
                  </a:ext>
                </a:extLst>
              </a:tr>
              <a:tr h="549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Telecom Executives / Management</a:t>
                      </a:r>
                      <a:endParaRPr lang="en-IN" sz="150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Make strategic decisions to reduce churn and improve revenue.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01356"/>
                  </a:ext>
                </a:extLst>
              </a:tr>
              <a:tr h="549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Customers (Indirect End Users)</a:t>
                      </a:r>
                      <a:endParaRPr lang="en-IN" sz="150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Benefit from improved network reliability &amp; better service support.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92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03D0C2B-5DD6-7D03-5DF6-9C68172DE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559683"/>
              </p:ext>
            </p:extLst>
          </p:nvPr>
        </p:nvGraphicFramePr>
        <p:xfrm>
          <a:off x="1559858" y="1278385"/>
          <a:ext cx="8148918" cy="3965966"/>
        </p:xfrm>
        <a:graphic>
          <a:graphicData uri="http://schemas.openxmlformats.org/drawingml/2006/table">
            <a:tbl>
              <a:tblPr/>
              <a:tblGrid>
                <a:gridCol w="4074459">
                  <a:extLst>
                    <a:ext uri="{9D8B030D-6E8A-4147-A177-3AD203B41FA5}">
                      <a16:colId xmlns:a16="http://schemas.microsoft.com/office/drawing/2014/main" val="3001314743"/>
                    </a:ext>
                  </a:extLst>
                </a:gridCol>
                <a:gridCol w="4074459">
                  <a:extLst>
                    <a:ext uri="{9D8B030D-6E8A-4147-A177-3AD203B41FA5}">
                      <a16:colId xmlns:a16="http://schemas.microsoft.com/office/drawing/2014/main" val="4135241834"/>
                    </a:ext>
                  </a:extLst>
                </a:gridCol>
              </a:tblGrid>
              <a:tr h="547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723332"/>
                  </a:ext>
                </a:extLst>
              </a:tr>
              <a:tr h="547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Programming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23375"/>
                  </a:ext>
                </a:extLst>
              </a:tr>
              <a:tr h="957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Libraries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Pandas, NumPy, Matplotlib, Seaborn, Scikit-learn, 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605763"/>
                  </a:ext>
                </a:extLst>
              </a:tr>
              <a:tr h="957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Techniques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Logistic Regression, Random Forest, Gradient Boosting, 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11378"/>
                  </a:ext>
                </a:extLst>
              </a:tr>
              <a:tr h="957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Accuracy</a:t>
                      </a:r>
                      <a:r>
                        <a:rPr lang="fr-FR" dirty="0"/>
                        <a:t>, Confusion Matrix, Classification Report, 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565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63C6FA-A271-7D80-A2F0-DFA3C928C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7080"/>
            <a:ext cx="8794376" cy="578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7506A6-5D5A-279C-33FA-2322DD9E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43FA67-5370-A877-3412-1CD7A1E9C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71771" cy="3886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E78634-A0E1-0474-6B51-7AE9DB41F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71" y="3173506"/>
            <a:ext cx="7082117" cy="36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10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33443" y="2079351"/>
            <a:ext cx="6868234" cy="834102"/>
          </a:xfrm>
        </p:spPr>
        <p:txBody>
          <a:bodyPr>
            <a:normAutofit/>
          </a:bodyPr>
          <a:lstStyle/>
          <a:p>
            <a:r>
              <a:rPr lang="en-IN" dirty="0"/>
              <a:t>Git Hub Link: https://github.com/Rehaan0745/Telecom-Cust-Retention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640</TotalTime>
  <Words>328</Words>
  <Application>Microsoft Office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Bahnschrift SemiBold SemiConden</vt:lpstr>
      <vt:lpstr>Calibri</vt:lpstr>
      <vt:lpstr>Californian FB</vt:lpstr>
      <vt:lpstr>Trebuchet MS</vt:lpstr>
      <vt:lpstr>Wingdings</vt:lpstr>
      <vt:lpstr>Wingdings 3</vt:lpstr>
      <vt:lpstr>Facet</vt:lpstr>
      <vt:lpstr>Telecom Customer Retention</vt:lpstr>
      <vt:lpstr>PROBLEM  STATEMENT</vt:lpstr>
      <vt:lpstr>Project Description  </vt:lpstr>
      <vt:lpstr>WHO ARE THE END USERS?</vt:lpstr>
      <vt:lpstr>Technology Used</vt:lpstr>
      <vt:lpstr>RESULTS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Rehaan Ali</cp:lastModifiedBy>
  <cp:revision>78</cp:revision>
  <dcterms:created xsi:type="dcterms:W3CDTF">2021-07-11T13:13:15Z</dcterms:created>
  <dcterms:modified xsi:type="dcterms:W3CDTF">2025-11-29T18:24:51Z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